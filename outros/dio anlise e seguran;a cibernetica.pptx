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68"/>
  </p:notesMasterIdLst>
  <p:sldIdLst>
    <p:sldId id="260" r:id="rId5"/>
    <p:sldId id="262" r:id="rId6"/>
    <p:sldId id="263" r:id="rId7"/>
    <p:sldId id="264" r:id="rId8"/>
    <p:sldId id="306" r:id="rId9"/>
    <p:sldId id="265" r:id="rId10"/>
    <p:sldId id="277" r:id="rId11"/>
    <p:sldId id="266" r:id="rId12"/>
    <p:sldId id="307" r:id="rId13"/>
    <p:sldId id="308" r:id="rId14"/>
    <p:sldId id="276" r:id="rId15"/>
    <p:sldId id="309" r:id="rId16"/>
    <p:sldId id="318" r:id="rId17"/>
    <p:sldId id="310" r:id="rId18"/>
    <p:sldId id="311" r:id="rId19"/>
    <p:sldId id="312" r:id="rId20"/>
    <p:sldId id="313" r:id="rId21"/>
    <p:sldId id="314" r:id="rId22"/>
    <p:sldId id="315" r:id="rId23"/>
    <p:sldId id="316" r:id="rId24"/>
    <p:sldId id="268" r:id="rId25"/>
    <p:sldId id="269" r:id="rId26"/>
    <p:sldId id="317" r:id="rId27"/>
    <p:sldId id="289" r:id="rId28"/>
    <p:sldId id="319" r:id="rId29"/>
    <p:sldId id="321" r:id="rId30"/>
    <p:sldId id="320" r:id="rId31"/>
    <p:sldId id="271" r:id="rId32"/>
    <p:sldId id="293" r:id="rId33"/>
    <p:sldId id="322" r:id="rId34"/>
    <p:sldId id="323" r:id="rId35"/>
    <p:sldId id="324" r:id="rId36"/>
    <p:sldId id="325" r:id="rId37"/>
    <p:sldId id="326" r:id="rId38"/>
    <p:sldId id="297" r:id="rId39"/>
    <p:sldId id="327" r:id="rId40"/>
    <p:sldId id="328" r:id="rId41"/>
    <p:sldId id="296" r:id="rId42"/>
    <p:sldId id="298" r:id="rId43"/>
    <p:sldId id="299" r:id="rId44"/>
    <p:sldId id="300" r:id="rId45"/>
    <p:sldId id="304" r:id="rId46"/>
    <p:sldId id="330" r:id="rId47"/>
    <p:sldId id="329" r:id="rId48"/>
    <p:sldId id="331" r:id="rId49"/>
    <p:sldId id="332" r:id="rId50"/>
    <p:sldId id="333" r:id="rId51"/>
    <p:sldId id="334" r:id="rId52"/>
    <p:sldId id="341" r:id="rId53"/>
    <p:sldId id="335" r:id="rId54"/>
    <p:sldId id="336" r:id="rId55"/>
    <p:sldId id="337" r:id="rId56"/>
    <p:sldId id="338" r:id="rId57"/>
    <p:sldId id="339" r:id="rId58"/>
    <p:sldId id="340" r:id="rId59"/>
    <p:sldId id="342" r:id="rId60"/>
    <p:sldId id="343" r:id="rId61"/>
    <p:sldId id="344" r:id="rId62"/>
    <p:sldId id="345" r:id="rId63"/>
    <p:sldId id="346" r:id="rId64"/>
    <p:sldId id="347" r:id="rId65"/>
    <p:sldId id="348" r:id="rId66"/>
    <p:sldId id="275" r:id="rId67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69"/>
      <p:bold r:id="rId70"/>
      <p:italic r:id="rId71"/>
      <p:boldItalic r:id="rId7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7" roundtripDataSignature="AMtx7mhjxPrsOBPP4yViyrDTJVpXgOZs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8D4F3E-1675-887B-062A-0ABD2381111A}" v="4" dt="2022-11-09T00:15:02.4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notesMaster" Target="notesMasters/notesMaster1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9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82" Type="http://schemas.microsoft.com/office/2015/10/relationships/revisionInfo" Target="revisionInfo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font" Target="fonts/font1.fntdata"/><Relationship Id="rId77" Type="http://customschemas.google.com/relationships/presentationmetadata" Target="metadata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font" Target="fonts/font4.fntdata"/><Relationship Id="rId80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font" Target="fonts/font2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71" Type="http://schemas.openxmlformats.org/officeDocument/2006/relationships/font" Target="fonts/font3.fntdata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87008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95746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43893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5502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12023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89144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43283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54603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52588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1778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86766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4100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36203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48735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16295da5bc_1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g116295da5bc_1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16d3f5ae1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116d3f5ae1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16d3f5ae1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116d3f5ae1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29404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16d3f5ae1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116d3f5ae1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51172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16d3f5ae1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116d3f5ae1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194905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16d3f5ae1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116d3f5ae1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652612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16d3f5ae1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116d3f5ae1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288125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116295da5bc_1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8" name="Google Shape;248;g116295da5bc_1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16d3f5ae1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116d3f5ae1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744317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16d3f5ae1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116d3f5ae1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320339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16d3f5ae1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116d3f5ae1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810044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16d3f5ae1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116d3f5ae1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30627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16d3f5ae1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116d3f5ae1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97958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16d3f5ae1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116d3f5ae1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278787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16d3f5ae1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116d3f5ae1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053108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16d3f5ae1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116d3f5ae1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491687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16d3f5ae1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116d3f5ae1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515887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116295da5bc_1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8" name="Google Shape;248;g116295da5bc_1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952630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16d3f5ae1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116d3f5ae1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139072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16d3f5ae1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116d3f5ae1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468417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16d3f5ae1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116d3f5ae1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9117896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16d3f5ae1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116d3f5ae1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912269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16d3f5ae1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116d3f5ae1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121298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16d3f5ae1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116d3f5ae1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055124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116295da5bc_1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8" name="Google Shape;248;g116295da5bc_1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394923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16d3f5ae1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116d3f5ae1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285043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16d3f5ae1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116d3f5ae1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316561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16d3f5ae1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116d3f5ae1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667956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16d3f5ae1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116d3f5ae1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609376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16d3f5ae1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116d3f5ae1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814836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16d3f5ae1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116d3f5ae1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392136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16d3f5ae1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116d3f5ae1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84787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16d3f5ae1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116d3f5ae1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300842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16d3f5ae1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116d3f5ae1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096225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16d3f5ae1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116d3f5ae1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136444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116295da5bc_1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8" name="Google Shape;248;g116295da5bc_1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501840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16d3f5ae1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116d3f5ae1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745209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16d3f5ae1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116d3f5ae1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104189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16d3f5ae1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116d3f5ae1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42631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16d3f5ae1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116d3f5ae1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222447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16d3f5ae1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116d3f5ae1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5663629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16d3f5ae1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116d3f5ae1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3508555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9" name="Google Shape;27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109ffa863cd_0_28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09ffa863cd_0_24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g109ffa863cd_0_24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" name="Google Shape;20;g109ffa863cd_0_2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109ffa863cd_0_2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g109ffa863cd_0_2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09ffa863cd_0_2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109ffa863cd_0_2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g109ffa863cd_0_2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09ffa863cd_0_2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109ffa863cd_0_2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g109ffa863cd_0_25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g109ffa863cd_0_2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09ffa863cd_0_26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g109ffa863cd_0_26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g109ffa863cd_0_26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09ffa863cd_0_26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g109ffa863cd_0_2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09ffa863cd_0_27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09ffa863cd_0_27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g109ffa863cd_0_27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g109ffa863cd_0_27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g109ffa863cd_0_2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09ffa863cd_0_27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g109ffa863cd_0_27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09ffa863cd_0_27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g109ffa863cd_0_27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109ffa863cd_0_27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09ffa863cd_0_2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109ffa863cd_0_2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g109ffa863cd_0_240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127425" y="119987"/>
            <a:ext cx="851525" cy="3314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g109ffa863cd_0_2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OSINT</a:t>
            </a:r>
            <a:endParaRPr sz="2400" b="0" i="1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6" name="Google Shape;156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</a:t>
            </a:fld>
            <a:r>
              <a:rPr lang="en-US"/>
              <a:t>]</a:t>
            </a:r>
            <a:endParaRPr/>
          </a:p>
        </p:txBody>
      </p:sp>
      <p:sp>
        <p:nvSpPr>
          <p:cNvPr id="2" name="Google Shape;154;p2">
            <a:extLst>
              <a:ext uri="{FF2B5EF4-FFF2-40B4-BE49-F238E27FC236}">
                <a16:creationId xmlns:a16="http://schemas.microsoft.com/office/drawing/2014/main" id="{2C3F779C-6A9D-036E-0141-C5086B4E5447}"/>
              </a:ext>
            </a:extLst>
          </p:cNvPr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Cassiano Peres</a:t>
            </a:r>
            <a:endParaRPr sz="16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1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DIO  Tech Education Analyst</a:t>
            </a:r>
            <a:endParaRPr lang="en-US" sz="2400" b="1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6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cassiano-dio</a:t>
            </a:r>
            <a:endParaRPr lang="en-US" sz="1600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     </a:t>
            </a:r>
            <a:r>
              <a:rPr lang="en-US" sz="1600" b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peres-cassiano</a:t>
            </a:r>
            <a:endParaRPr sz="1600" b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925C8E-1D6C-A6AB-F4F2-119BB89F5A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184" y="4030935"/>
            <a:ext cx="250309" cy="250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97CEDB2E-730F-EAE5-00A6-1E71B6357C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878" y="4435961"/>
            <a:ext cx="250309" cy="244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Nesta aula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vamos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falar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sobre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OSINT,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ou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inteligência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fontes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abertas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como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obter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dados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sobre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alvos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0" name="Google Shape;170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</a:pP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Este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curso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requer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algum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programação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básica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7" name="Google Shape;177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3" name="Google Shape;183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OSINT?</a:t>
            </a:r>
          </a:p>
        </p:txBody>
      </p:sp>
      <p:sp>
        <p:nvSpPr>
          <p:cNvPr id="185" name="Google Shape;185;p17"/>
          <p:cNvSpPr txBox="1"/>
          <p:nvPr/>
        </p:nvSpPr>
        <p:spPr>
          <a:xfrm>
            <a:off x="678554" y="2808718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2262750" y="2865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Pensamento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OSINT</a:t>
            </a:r>
          </a:p>
        </p:txBody>
      </p:sp>
      <p:sp>
        <p:nvSpPr>
          <p:cNvPr id="187" name="Google Shape;187;p17"/>
          <p:cNvSpPr txBox="1"/>
          <p:nvPr/>
        </p:nvSpPr>
        <p:spPr>
          <a:xfrm>
            <a:off x="678554" y="3765731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2262751" y="3822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Google Hacking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3" name="Google Shape;183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4</a:t>
            </a:r>
            <a:endParaRPr sz="2800" b="1" i="0" u="none" strike="noStrike" cap="none" dirty="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Conhecendo o Shodan</a:t>
            </a:r>
          </a:p>
        </p:txBody>
      </p:sp>
      <p:sp>
        <p:nvSpPr>
          <p:cNvPr id="189" name="Google Shape;189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</a:t>
            </a:fld>
            <a:r>
              <a:rPr lang="en-US"/>
              <a:t>]</a:t>
            </a:r>
            <a:endParaRPr/>
          </a:p>
        </p:txBody>
      </p:sp>
      <p:sp>
        <p:nvSpPr>
          <p:cNvPr id="2" name="Google Shape;185;p17">
            <a:extLst>
              <a:ext uri="{FF2B5EF4-FFF2-40B4-BE49-F238E27FC236}">
                <a16:creationId xmlns:a16="http://schemas.microsoft.com/office/drawing/2014/main" id="{1A8318BC-D679-1773-8CEB-E4010F2EF27E}"/>
              </a:ext>
            </a:extLst>
          </p:cNvPr>
          <p:cNvSpPr txBox="1"/>
          <p:nvPr/>
        </p:nvSpPr>
        <p:spPr>
          <a:xfrm>
            <a:off x="678554" y="2808718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4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86;p17">
            <a:extLst>
              <a:ext uri="{FF2B5EF4-FFF2-40B4-BE49-F238E27FC236}">
                <a16:creationId xmlns:a16="http://schemas.microsoft.com/office/drawing/2014/main" id="{83CE2253-CD26-2530-944E-CDC4BB54E5F1}"/>
              </a:ext>
            </a:extLst>
          </p:cNvPr>
          <p:cNvSpPr/>
          <p:nvPr/>
        </p:nvSpPr>
        <p:spPr>
          <a:xfrm>
            <a:off x="2262750" y="2865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Maltego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87;p17">
            <a:extLst>
              <a:ext uri="{FF2B5EF4-FFF2-40B4-BE49-F238E27FC236}">
                <a16:creationId xmlns:a16="http://schemas.microsoft.com/office/drawing/2014/main" id="{87AE9075-2043-2E39-747E-E60E853C6EAE}"/>
              </a:ext>
            </a:extLst>
          </p:cNvPr>
          <p:cNvSpPr txBox="1"/>
          <p:nvPr/>
        </p:nvSpPr>
        <p:spPr>
          <a:xfrm>
            <a:off x="678554" y="3765731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Etapa 6</a:t>
            </a:r>
            <a:endParaRPr sz="14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88;p17">
            <a:extLst>
              <a:ext uri="{FF2B5EF4-FFF2-40B4-BE49-F238E27FC236}">
                <a16:creationId xmlns:a16="http://schemas.microsoft.com/office/drawing/2014/main" id="{4E97EDF2-CEBC-660A-653B-3C6C20088AF6}"/>
              </a:ext>
            </a:extLst>
          </p:cNvPr>
          <p:cNvSpPr/>
          <p:nvPr/>
        </p:nvSpPr>
        <p:spPr>
          <a:xfrm>
            <a:off x="2262751" y="3822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FOCA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12643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é OSINT?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97" name="Google Shape;19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Nesta aula vamos conhecer o famework OSINT, a inteligência de fontes abertas.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Introdução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34560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2287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1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OSINT</a:t>
            </a:r>
            <a:r>
              <a:rPr lang="pt-BR" sz="2400" b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significa </a:t>
            </a:r>
            <a:r>
              <a:rPr lang="pt-BR" sz="2400" i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Open Source Intelligence</a:t>
            </a: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, ou inteligência de fontes abertas, ou seja, informações abertas na internet ao público.</a:t>
            </a: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OSINT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OSINT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</a:t>
            </a:fld>
            <a:r>
              <a:rPr lang="en-US"/>
              <a:t>]</a:t>
            </a:r>
            <a:endParaRPr/>
          </a:p>
        </p:txBody>
      </p:sp>
      <p:pic>
        <p:nvPicPr>
          <p:cNvPr id="2052" name="Picture 4" descr="Open Source Intelligence Techniques (OSINT) Guide | SEON">
            <a:extLst>
              <a:ext uri="{FF2B5EF4-FFF2-40B4-BE49-F238E27FC236}">
                <a16:creationId xmlns:a16="http://schemas.microsoft.com/office/drawing/2014/main" id="{0DB66A8A-CBE1-EF87-24C7-8D85B6D2AE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0591" y="1895295"/>
            <a:ext cx="5922818" cy="2996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6137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OSINT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</a:t>
            </a:fld>
            <a:r>
              <a:rPr lang="en-US"/>
              <a:t>]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773950-BD81-8798-2E21-C58A2D2ECE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550" y="1328542"/>
            <a:ext cx="8016900" cy="3733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895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49"/>
            <a:ext cx="8016900" cy="3268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Para o OSINT são utilizadas ferramentas voltadas para: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Coleta de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informações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Mapeamento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enumeração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serviços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Análise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vulnerabilidades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Análise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arquivos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Extração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metadados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OSINT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86784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49"/>
            <a:ext cx="8016900" cy="3268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Blogs;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Fóruns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Mídias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sociais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Mídias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tradicionais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; 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Registros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governamentais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Etc.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Tipos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fontes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152611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Uso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OSINT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13</a:t>
            </a:fld>
            <a:r>
              <a:rPr lang="en-US"/>
              <a:t>]</a:t>
            </a:r>
            <a:endParaRPr/>
          </a:p>
        </p:txBody>
      </p:sp>
      <p:pic>
        <p:nvPicPr>
          <p:cNvPr id="2050" name="Picture 2" descr="What Is Open Source Intelligence and How to Conduct OSINT Investigations -  Maltego">
            <a:extLst>
              <a:ext uri="{FF2B5EF4-FFF2-40B4-BE49-F238E27FC236}">
                <a16:creationId xmlns:a16="http://schemas.microsoft.com/office/drawing/2014/main" id="{EFEF9E99-FA2F-4671-CA0A-B2B85DE1EF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5063" y="2264885"/>
            <a:ext cx="6393873" cy="173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3828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49"/>
            <a:ext cx="8016900" cy="3268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Legislações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Combate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a frauds;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Recursos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humanos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Cibersegurança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Operações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militares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Uso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OSINT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835847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49"/>
            <a:ext cx="8016900" cy="3268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Identificar violações de dados;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Due Diligence do Cliente (CDD);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Descobrir vulnerabilidades;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Apoio aos processos de tomada de decisão;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Atualizações.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Importância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do OSINT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346304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49"/>
            <a:ext cx="8016900" cy="3268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Camada extra de segurança;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Economia nos processos de decisão;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Dados analisados conforme são atualizados.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Benefícios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do OSINT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999229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49"/>
            <a:ext cx="8016900" cy="3268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Dificuldade de filtrar os dados inúteis;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Sem</a:t>
            </a: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ferramentas o trabalho é moroso;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Alta necessidade de comandos humanos;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Não há um padrão ideal definido sobre a quantidade de informações coletadas e analisadas.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Contratempos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do OSINT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653340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Técnicas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do OSINT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18</a:t>
            </a:fld>
            <a:r>
              <a:rPr lang="en-US"/>
              <a:t>]</a:t>
            </a:r>
            <a:endParaRPr/>
          </a:p>
        </p:txBody>
      </p:sp>
      <p:pic>
        <p:nvPicPr>
          <p:cNvPr id="3074" name="Picture 2" descr="OSINT TECHNIQUES">
            <a:extLst>
              <a:ext uri="{FF2B5EF4-FFF2-40B4-BE49-F238E27FC236}">
                <a16:creationId xmlns:a16="http://schemas.microsoft.com/office/drawing/2014/main" id="{3CB7BABD-BBE7-53A0-8725-9222340398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391" y="1227786"/>
            <a:ext cx="6671217" cy="3915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04291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Técnicas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do OSINT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19</a:t>
            </a:fld>
            <a:r>
              <a:rPr lang="en-US"/>
              <a:t>]</a:t>
            </a:r>
            <a:endParaRPr/>
          </a:p>
        </p:txBody>
      </p:sp>
      <p:pic>
        <p:nvPicPr>
          <p:cNvPr id="4098" name="Picture 2" descr="OSINT research workflow">
            <a:extLst>
              <a:ext uri="{FF2B5EF4-FFF2-40B4-BE49-F238E27FC236}">
                <a16:creationId xmlns:a16="http://schemas.microsoft.com/office/drawing/2014/main" id="{B61E7D53-C836-ED4A-8AC1-14704AF3FD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0033" y="1300927"/>
            <a:ext cx="3283934" cy="3842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65951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49"/>
            <a:ext cx="8016900" cy="3268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R="0" lvl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OSINT po</a:t>
            </a: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de ser considerado um canivete suíço do pentester, sendo extremamente útil para preparar a defesa contra ataques maliciosos.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Conclusão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290371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116295da5bc_1_7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2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4" name="Google Shape;224;g116295da5bc_1_7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Pensamento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OSINT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25" name="Google Shape;225;g116295da5bc_1_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g116295da5bc_1_7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21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16d3f5ae16_1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Além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ter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em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mãos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as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fontes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e ferramentas para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análise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de dados,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precisamos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saber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como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utilizá-los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da forma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mais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efetiva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possível</a:t>
            </a:r>
            <a:endParaRPr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116d3f5ae16_1_0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Introdução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g116d3f5ae16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16d3f5ae16_1_0"/>
          <p:cNvSpPr txBox="1"/>
          <p:nvPr/>
        </p:nvSpPr>
        <p:spPr>
          <a:xfrm>
            <a:off x="565525" y="1481050"/>
            <a:ext cx="8016900" cy="2294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OSINT requer uma mentalidade especial, incluindo habilidades analíticas, flexibilidade de pensamento e paciência.</a:t>
            </a:r>
            <a:endParaRPr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116d3f5ae16_1_0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Mindset OSINT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g116d3f5ae16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23</a:t>
            </a:fld>
            <a:r>
              <a:rPr lang="en-US"/>
              <a:t>]</a:t>
            </a:r>
            <a:endParaRPr/>
          </a:p>
        </p:txBody>
      </p:sp>
      <p:pic>
        <p:nvPicPr>
          <p:cNvPr id="1026" name="Picture 2" descr="OSINT Is A State Of Mind. Most true 'OSINTians' are members of a… | by  Dutch Osint Guy | secjuice™ | Medium">
            <a:extLst>
              <a:ext uri="{FF2B5EF4-FFF2-40B4-BE49-F238E27FC236}">
                <a16:creationId xmlns:a16="http://schemas.microsoft.com/office/drawing/2014/main" id="{218EBF4E-2D41-C39B-A0AF-F4970C11F7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8536" y="3379027"/>
            <a:ext cx="2786928" cy="1240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89588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16d3f5ae16_1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Quais as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fontes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escolhidas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Qual a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confiabilidade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das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fontes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Quais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palavras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chaves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utilizar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</a:endParaRP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Quais as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melhores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ferramentas?</a:t>
            </a:r>
            <a:endParaRPr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116d3f5ae16_1_0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Mindset OSINT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g116d3f5ae16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436464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16d3f5ae16_1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R="0" lvl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Não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adianta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ter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as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melhores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fontes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e ferramentas se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não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souber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como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utilizá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-las.</a:t>
            </a:r>
            <a:endParaRPr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116d3f5ae16_1_0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Mindset OSINT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g116d3f5ae16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749755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16d3f5ae16_1_0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Mindset OSINT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g116d3f5ae16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26</a:t>
            </a:fld>
            <a:r>
              <a:rPr lang="en-US"/>
              <a:t>]</a:t>
            </a:r>
            <a:endParaRPr/>
          </a:p>
        </p:txBody>
      </p:sp>
      <p:pic>
        <p:nvPicPr>
          <p:cNvPr id="3076" name="Picture 4" descr="Maltego infographic - two types of approaches to gather OSINT information">
            <a:extLst>
              <a:ext uri="{FF2B5EF4-FFF2-40B4-BE49-F238E27FC236}">
                <a16:creationId xmlns:a16="http://schemas.microsoft.com/office/drawing/2014/main" id="{92CBBC5A-9345-246F-4482-DC04DC2FC3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351" y="2065964"/>
            <a:ext cx="6683298" cy="2098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59081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16d3f5ae16_1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Escolher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assunto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pesquisado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Definição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fontes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Reunir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palavras-chave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Escolher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a ferramenta OSINT;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Refinar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as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informações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contradas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Cuidado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com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informações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falsas.</a:t>
            </a:r>
            <a:endParaRPr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116d3f5ae16_1_0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Mindset OSINT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g116d3f5ae16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372001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16295da5bc_1_94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3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2" name="Google Shape;252;g116295da5bc_1_94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Google Hacking</a:t>
            </a:r>
            <a:endParaRPr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53" name="Google Shape;253;g116295da5bc_1_9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g116295da5bc_1_9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28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16d3f5ae16_1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Nesta aula vamos falar sobre o uso de técnicas de pesquisas avançadas utilizadas no Google para encontrar informações.</a:t>
            </a:r>
          </a:p>
        </p:txBody>
      </p:sp>
      <p:sp>
        <p:nvSpPr>
          <p:cNvPr id="232" name="Google Shape;232;g116d3f5ae16_1_0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Introdução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g116d3f5ae16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29</a:t>
            </a:fld>
            <a:r>
              <a:rPr lang="en-US"/>
              <a:t>]</a:t>
            </a:r>
            <a:endParaRPr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46682B52-A0DF-1F3A-C4E0-D2BDDC5217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1440" y="3910036"/>
            <a:ext cx="2141120" cy="724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20878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16d3f5ae16_1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Google Hacking nada mais é que uma prática para encontrar aquivos e/ou falhas a partir do Google, usando ele como uma espécie de scanner, com comandos de buscas avançadas por strings chamadas de “</a:t>
            </a:r>
            <a:r>
              <a:rPr lang="pt-BR" sz="2400" b="1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dorks</a:t>
            </a: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” ou “</a:t>
            </a:r>
            <a:r>
              <a:rPr lang="pt-BR" sz="2400" b="1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operadores de pesquisa</a:t>
            </a: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”.</a:t>
            </a:r>
          </a:p>
        </p:txBody>
      </p:sp>
      <p:sp>
        <p:nvSpPr>
          <p:cNvPr id="232" name="Google Shape;232;g116d3f5ae16_1_0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Introdução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g116d3f5ae16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620296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16d3f5ae16_1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Com a composição de dorks podemos retornar domínios específicos, títulos, palavras, arquivos, etc.</a:t>
            </a:r>
          </a:p>
        </p:txBody>
      </p:sp>
      <p:sp>
        <p:nvSpPr>
          <p:cNvPr id="232" name="Google Shape;232;g116d3f5ae16_1_0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Dorks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g116d3f5ae16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31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355380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16d3f5ae16_1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pt-BR" sz="2400" b="1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site:</a:t>
            </a: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”  Busca em um site específico: </a:t>
            </a:r>
          </a:p>
          <a:p>
            <a:pPr marR="0" lvl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r>
              <a:rPr lang="pt-BR" sz="2400" b="0" i="1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site:exemplo.com.br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b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pt-BR" sz="2400" b="1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intitle:</a:t>
            </a:r>
            <a:r>
              <a:rPr lang="pt-BR" sz="2400" b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”  Busca por título de páginas: </a:t>
            </a:r>
          </a:p>
          <a:p>
            <a:pPr marR="0" lvl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r>
              <a:rPr lang="pt-BR" sz="2400" b="0" i="1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intitle:“&lt; Fazer login”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pt-BR" sz="2400" b="1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inurl:</a:t>
            </a:r>
            <a:r>
              <a:rPr lang="pt-BR" sz="240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r>
              <a:rPr lang="pt-BR" sz="2400" b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 Busca de termos presentes na url: </a:t>
            </a:r>
          </a:p>
          <a:p>
            <a:pPr marR="0" lvl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r>
              <a:rPr lang="pt-BR" sz="2400" b="0" i="1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inurl:/wp-admin</a:t>
            </a:r>
          </a:p>
        </p:txBody>
      </p:sp>
      <p:sp>
        <p:nvSpPr>
          <p:cNvPr id="232" name="Google Shape;232;g116d3f5ae16_1_0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Dorks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g116d3f5ae16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32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668822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16d3f5ae16_1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pt-BR" sz="2400" b="1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intext:</a:t>
            </a: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” Busca por texto no conteúdo do site:</a:t>
            </a:r>
          </a:p>
          <a:p>
            <a:pPr marR="0" lvl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r>
              <a:rPr lang="pt-BR" sz="2400" b="0" i="1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intext:adminpass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b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pt-BR" sz="2400" b="1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filetype:</a:t>
            </a:r>
            <a:r>
              <a:rPr lang="pt-BR" sz="2400" b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” Busca por formato de arquivos (.jpg,.zip,.txt):</a:t>
            </a:r>
          </a:p>
          <a:p>
            <a:pPr marR="0" lvl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r>
              <a:rPr lang="pt-BR" sz="2400" b="0" i="1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filetype:.txt 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pt-BR" sz="2400" b="1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inurl:</a:t>
            </a:r>
            <a:r>
              <a:rPr lang="pt-BR" sz="240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r>
              <a:rPr lang="pt-BR" sz="2400" b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 Busca de termos presentes na url: </a:t>
            </a:r>
          </a:p>
          <a:p>
            <a:pPr marR="0" lvl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r>
              <a:rPr lang="pt-BR" sz="2400" b="0" i="1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inurl:/wp-admin</a:t>
            </a:r>
          </a:p>
        </p:txBody>
      </p:sp>
      <p:sp>
        <p:nvSpPr>
          <p:cNvPr id="232" name="Google Shape;232;g116d3f5ae16_1_0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Dorks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g116d3f5ae16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264674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16d3f5ae16_1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pt-BR" sz="2400" b="1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-termo</a:t>
            </a: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”: O sinal de “-” exclui um termo da pesquisa</a:t>
            </a:r>
            <a:endParaRPr lang="pt-BR" sz="2400" b="0" i="1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b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pt-BR" sz="2400" b="1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2021...2022:</a:t>
            </a:r>
            <a:r>
              <a:rPr lang="pt-BR" sz="2400" b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” Busca entre datas</a:t>
            </a:r>
          </a:p>
        </p:txBody>
      </p:sp>
      <p:sp>
        <p:nvSpPr>
          <p:cNvPr id="232" name="Google Shape;232;g116d3f5ae16_1_0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Dorks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g116d3f5ae16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239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16d3f5ae16_1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São sites com várias Dorks voltadas à exploração de vulnerabilidades em sites.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Exploit-db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InurlBR</a:t>
            </a:r>
          </a:p>
        </p:txBody>
      </p:sp>
      <p:sp>
        <p:nvSpPr>
          <p:cNvPr id="232" name="Google Shape;232;g116d3f5ae16_1_0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Bancos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dados de Dorks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g116d3f5ae16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281560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16d3f5ae16_1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Vamos explorar algumas Dorks e obter informações com o Google Hacking.</a:t>
            </a:r>
          </a:p>
        </p:txBody>
      </p:sp>
      <p:sp>
        <p:nvSpPr>
          <p:cNvPr id="232" name="Google Shape;232;g116d3f5ae16_1_0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Construindo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Dorks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g116d3f5ae16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656067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16d3f5ae16_1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Nesta aula tivemos uma noção do quão abertos são os sistemas e o perigo que isso representa.</a:t>
            </a:r>
          </a:p>
        </p:txBody>
      </p:sp>
      <p:sp>
        <p:nvSpPr>
          <p:cNvPr id="232" name="Google Shape;232;g116d3f5ae16_1_0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Conclusão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g116d3f5ae16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830456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16295da5bc_1_94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4</a:t>
            </a:r>
            <a:endParaRPr sz="24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2" name="Google Shape;252;g116295da5bc_1_94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Conhecendo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o Shodan</a:t>
            </a:r>
            <a:endParaRPr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53" name="Google Shape;253;g116295da5bc_1_9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g116295da5bc_1_9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38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22764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16d3f5ae16_1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Nesta aula vamos conhecer o Shodan, o “Google dos Hackers”, utilizado para encontrar dispositivos conectados à internet.</a:t>
            </a:r>
          </a:p>
        </p:txBody>
      </p:sp>
      <p:sp>
        <p:nvSpPr>
          <p:cNvPr id="232" name="Google Shape;232;g116d3f5ae16_1_0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Introdução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g116d3f5ae16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39</a:t>
            </a:fld>
            <a:r>
              <a:rPr lang="en-US"/>
              <a:t>]</a:t>
            </a:r>
            <a:endParaRPr/>
          </a:p>
        </p:txBody>
      </p:sp>
      <p:pic>
        <p:nvPicPr>
          <p:cNvPr id="5122" name="Picture 2" descr="Shodan, the search engine with which you can find | Net Cloud">
            <a:extLst>
              <a:ext uri="{FF2B5EF4-FFF2-40B4-BE49-F238E27FC236}">
                <a16:creationId xmlns:a16="http://schemas.microsoft.com/office/drawing/2014/main" id="{626C7E81-8849-31E6-FBC6-D4CC2A4883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356" y="3740700"/>
            <a:ext cx="2467407" cy="1205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72957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16d3f5ae16_1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Lançado em 2009, é um mecanismo de busca desenvolvido pelo programador John Matherly;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Acessado por meio de um endereço na web, busca diversos tipos de dispositivos conectados à internet; 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Esses dispositivos podem ser desde computadores, servidores, mobile até câmeras abertas.</a:t>
            </a:r>
            <a:endParaRPr lang="pt-BR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116d3f5ae16_1_0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Shodan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g116d3f5ae16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405231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16d3f5ae16_1_0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Shodan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g116d3f5ae16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41</a:t>
            </a:fld>
            <a:r>
              <a:rPr lang="en-US"/>
              <a:t>]</a:t>
            </a:r>
            <a:endParaRPr/>
          </a:p>
        </p:txBody>
      </p:sp>
      <p:pic>
        <p:nvPicPr>
          <p:cNvPr id="6146" name="Picture 2" descr="Exemplo de pesquisa no Shodan. (Fonte: Shodan / Reprodução)">
            <a:extLst>
              <a:ext uri="{FF2B5EF4-FFF2-40B4-BE49-F238E27FC236}">
                <a16:creationId xmlns:a16="http://schemas.microsoft.com/office/drawing/2014/main" id="{54B36F0B-D82E-734A-D94B-CF7D4FE2E2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9465" y="1626953"/>
            <a:ext cx="6265069" cy="2976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87739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16d3f5ae16_1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Permite listar e filtrar dispositivos por localização, tipo de servidor, portas.</a:t>
            </a:r>
          </a:p>
        </p:txBody>
      </p:sp>
      <p:sp>
        <p:nvSpPr>
          <p:cNvPr id="232" name="Google Shape;232;g116d3f5ae16_1_0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Shodan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g116d3f5ae16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42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865594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16d3f5ae16_1_0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Shodan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g116d3f5ae16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43</a:t>
            </a:fld>
            <a:r>
              <a:rPr lang="en-US"/>
              <a:t>]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F31799-2B5D-CFE5-A5CC-5C54B28E96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770567"/>
            <a:ext cx="6858000" cy="2896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7707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16d3f5ae16_1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Vamos praticar alguns comandos de filtros e listagens no Shodan.</a:t>
            </a:r>
          </a:p>
        </p:txBody>
      </p:sp>
      <p:sp>
        <p:nvSpPr>
          <p:cNvPr id="232" name="Google Shape;232;g116d3f5ae16_1_0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Prática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g116d3f5ae16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9990324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16295da5bc_1_94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5</a:t>
            </a:r>
            <a:endParaRPr sz="24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2" name="Google Shape;252;g116295da5bc_1_94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Maltego</a:t>
            </a:r>
            <a:endParaRPr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53" name="Google Shape;253;g116295da5bc_1_9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g116295da5bc_1_9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45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456628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16d3f5ae16_1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Nesta aula vamos falar de outra ferramenta de OSINT, o Maltego.</a:t>
            </a:r>
          </a:p>
        </p:txBody>
      </p:sp>
      <p:sp>
        <p:nvSpPr>
          <p:cNvPr id="232" name="Google Shape;232;g116d3f5ae16_1_0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Introdução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g116d3f5ae16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46</a:t>
            </a:fld>
            <a:r>
              <a:rPr lang="en-US"/>
              <a:t>]</a:t>
            </a:r>
            <a:endParaRPr/>
          </a:p>
        </p:txBody>
      </p:sp>
      <p:pic>
        <p:nvPicPr>
          <p:cNvPr id="7170" name="Picture 2" descr="Homepage - Maltego">
            <a:extLst>
              <a:ext uri="{FF2B5EF4-FFF2-40B4-BE49-F238E27FC236}">
                <a16:creationId xmlns:a16="http://schemas.microsoft.com/office/drawing/2014/main" id="{BBE9C0B3-0E22-3279-B1B9-F333542935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6465" y="3639732"/>
            <a:ext cx="2091070" cy="1306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271554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16d3f5ae16_1_0"/>
          <p:cNvSpPr txBox="1"/>
          <p:nvPr/>
        </p:nvSpPr>
        <p:spPr>
          <a:xfrm>
            <a:off x="565525" y="1481050"/>
            <a:ext cx="820988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É </a:t>
            </a: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um dos frameworks OSINT mais famosos para reconhecimento </a:t>
            </a:r>
            <a:r>
              <a:rPr lang="pt-BR" sz="2400" b="1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pessoal e organizacional</a:t>
            </a: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</a:p>
        </p:txBody>
      </p:sp>
      <p:sp>
        <p:nvSpPr>
          <p:cNvPr id="232" name="Google Shape;232;g116d3f5ae16_1_0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Maltego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g116d3f5ae16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1949847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16d3f5ae16_1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É uma ferramenta GUI que permite coletar informações sobre </a:t>
            </a:r>
            <a:r>
              <a:rPr lang="pt-BR" sz="2400" b="1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qualquer indivíduo</a:t>
            </a: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, extraindo as informações que estão </a:t>
            </a:r>
            <a:r>
              <a:rPr lang="pt-BR" sz="2400" b="1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publicamente disponíveis na internet </a:t>
            </a: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por diferentes métodos.</a:t>
            </a:r>
          </a:p>
        </p:txBody>
      </p:sp>
      <p:sp>
        <p:nvSpPr>
          <p:cNvPr id="232" name="Google Shape;232;g116d3f5ae16_1_0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Maltego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g116d3f5ae16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1657989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16d3f5ae16_1_0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Maltego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g116d3f5ae16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49</a:t>
            </a:fld>
            <a:r>
              <a:rPr lang="en-US"/>
              <a:t>]</a:t>
            </a:r>
            <a:endParaRPr/>
          </a:p>
        </p:txBody>
      </p:sp>
      <p:pic>
        <p:nvPicPr>
          <p:cNvPr id="9218" name="Picture 2" descr="Maltego Person of Interest investigation steps">
            <a:extLst>
              <a:ext uri="{FF2B5EF4-FFF2-40B4-BE49-F238E27FC236}">
                <a16:creationId xmlns:a16="http://schemas.microsoft.com/office/drawing/2014/main" id="{89E3FDA8-4907-112E-A351-7E01FCFAE5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645" y="2380497"/>
            <a:ext cx="6504709" cy="2126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887936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16d3f5ae16_1_0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Maltego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g116d3f5ae16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50</a:t>
            </a:fld>
            <a:r>
              <a:rPr lang="en-US"/>
              <a:t>]</a:t>
            </a:r>
            <a:endParaRPr/>
          </a:p>
        </p:txBody>
      </p:sp>
      <p:pic>
        <p:nvPicPr>
          <p:cNvPr id="8194" name="Picture 2" descr="A Maltego é uma ferramenta de análise e análise de links visuais e é o  software mais famoso para a realização de Open Source Intelligence.">
            <a:extLst>
              <a:ext uri="{FF2B5EF4-FFF2-40B4-BE49-F238E27FC236}">
                <a16:creationId xmlns:a16="http://schemas.microsoft.com/office/drawing/2014/main" id="{4DB0F221-6D63-6FFF-EF26-487861B72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763" y="1481050"/>
            <a:ext cx="7384473" cy="3555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260289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16d3f5ae16_1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Possui versões pagas e </a:t>
            </a:r>
            <a:r>
              <a:rPr lang="pt-BR" sz="2400" b="0" i="1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community</a:t>
            </a:r>
            <a:r>
              <a:rPr lang="pt-BR" sz="2400" b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, gratuita para uso mas com funcionalidades a menos.</a:t>
            </a:r>
            <a:endParaRPr lang="pt-BR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116d3f5ae16_1_0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Maltego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g116d3f5ae16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51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726254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16d3f5ae16_1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Pessoas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Grupos de pessoas (redes sociais)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Empresas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Organizações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Sites</a:t>
            </a:r>
          </a:p>
        </p:txBody>
      </p:sp>
      <p:sp>
        <p:nvSpPr>
          <p:cNvPr id="232" name="Google Shape;232;g116d3f5ae16_1_0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o </a:t>
            </a: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Maltego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encontra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g116d3f5ae16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52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3760595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16d3f5ae16_1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Domínios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Nomes DNS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Blocos de rede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Endereços IP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Afiliações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Documentos e arquivos</a:t>
            </a:r>
          </a:p>
        </p:txBody>
      </p:sp>
      <p:sp>
        <p:nvSpPr>
          <p:cNvPr id="232" name="Google Shape;232;g116d3f5ae16_1_0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o </a:t>
            </a: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Maltego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encontra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g116d3f5ae16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9520288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16d3f5ae16_1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Maltego pode ser útil para a fase de coleta de informações de todos os trabalhos relacionados à segurança, gerando economia de tempo, adicionando mais precisão e inteligência.</a:t>
            </a:r>
          </a:p>
        </p:txBody>
      </p:sp>
      <p:sp>
        <p:nvSpPr>
          <p:cNvPr id="232" name="Google Shape;232;g116d3f5ae16_1_0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Benefícios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do </a:t>
            </a: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Maltego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g116d3f5ae16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5501072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16d3f5ae16_1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Vamos instalar e fazer algumas pesquisas com o Maltego.</a:t>
            </a:r>
          </a:p>
        </p:txBody>
      </p:sp>
      <p:sp>
        <p:nvSpPr>
          <p:cNvPr id="232" name="Google Shape;232;g116d3f5ae16_1_0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Prática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g116d3f5ae16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5914942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16295da5bc_1_94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6</a:t>
            </a:r>
            <a:endParaRPr sz="24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2" name="Google Shape;252;g116295da5bc_1_94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FOCA</a:t>
            </a:r>
            <a:endParaRPr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53" name="Google Shape;253;g116295da5bc_1_9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g116295da5bc_1_9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56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437140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16d3f5ae16_1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Nesta aula vamos falar de outra ferramenta de OSINT, o FOCA.</a:t>
            </a:r>
          </a:p>
        </p:txBody>
      </p:sp>
      <p:sp>
        <p:nvSpPr>
          <p:cNvPr id="232" name="Google Shape;232;g116d3f5ae16_1_0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Introdução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g116d3f5ae16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57</a:t>
            </a:fld>
            <a:r>
              <a:rPr lang="en-US"/>
              <a:t>]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F0889A-21D1-E5FB-6EDE-0EA4A747C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0412" y="3925744"/>
            <a:ext cx="2543175" cy="98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91003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16d3f5ae16_1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FOCA significa </a:t>
            </a:r>
            <a:r>
              <a:rPr lang="pt-BR" sz="2400" b="0" i="1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Fingerprinting &amp; Organisation with Collected Archives</a:t>
            </a:r>
            <a:r>
              <a:rPr lang="pt-BR" sz="2400" b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, sendo uma ferramenta utilizada para encontrar, fazer download, analisar e extrair metadados de arquivos.</a:t>
            </a:r>
            <a:endParaRPr lang="pt-BR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116d3f5ae16_1_0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FOCA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g116d3f5ae16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9865798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16d3f5ae16_1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Podem ser aquivos como MS Office, PDF, Open Office, SVG e uma infinidade de formatos.</a:t>
            </a:r>
          </a:p>
        </p:txBody>
      </p:sp>
      <p:sp>
        <p:nvSpPr>
          <p:cNvPr id="232" name="Google Shape;232;g116d3f5ae16_1_0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FOCA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g116d3f5ae16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59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0365401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16d3f5ae16_1_0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FOCA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g116d3f5ae16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60</a:t>
            </a:fld>
            <a:r>
              <a:rPr lang="en-US"/>
              <a:t>]</a:t>
            </a:r>
            <a:endParaRPr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F4BA95E3-0F17-5B11-C086-BE87A3FE21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2919" y="1396276"/>
            <a:ext cx="5378161" cy="355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442239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16d3f5ae16_1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Permite encontrar metadados como: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Usuários do software;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Versão do software;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Pastas;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Sistemas operacionais;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Etc.</a:t>
            </a:r>
            <a:endParaRPr lang="pt-BR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116d3f5ae16_1_0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FOCA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g116d3f5ae16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61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199128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16d3f5ae16_1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Vamos instalar o foca e analisar alguns arquivos para extração de metadados.</a:t>
            </a:r>
          </a:p>
        </p:txBody>
      </p:sp>
      <p:sp>
        <p:nvSpPr>
          <p:cNvPr id="232" name="Google Shape;232;g116d3f5ae16_1_0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FOCA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g116d3f5ae16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62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5539889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83" name="Google Shape;283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63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E48B58A68BE64E9120D347E3E06B3A" ma:contentTypeVersion="16" ma:contentTypeDescription="Create a new document." ma:contentTypeScope="" ma:versionID="521d280d5f85db8478d88c96e960a74d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de0ecea43319d87aebf071435ed4a5d9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F7CB545-2F42-4F9B-81B9-9B2A306F6F94}">
  <ds:schemaRefs>
    <ds:schemaRef ds:uri="http://schemas.microsoft.com/office/2006/metadata/properties"/>
    <ds:schemaRef ds:uri="http://schemas.microsoft.com/office/infopath/2007/PartnerControls"/>
    <ds:schemaRef ds:uri="851b35d3-0456-4d6a-bc2f-da927e91d158"/>
    <ds:schemaRef ds:uri="19483571-f922-4e8e-9c1c-26f0a2252132"/>
  </ds:schemaRefs>
</ds:datastoreItem>
</file>

<file path=customXml/itemProps2.xml><?xml version="1.0" encoding="utf-8"?>
<ds:datastoreItem xmlns:ds="http://schemas.openxmlformats.org/officeDocument/2006/customXml" ds:itemID="{945ED4D2-CB89-48D0-9492-48A32AB0CFB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8395025-9147-4E15-889A-D42EB62FD4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1b35d3-0456-4d6a-bc2f-da927e91d158"/>
    <ds:schemaRef ds:uri="19483571-f922-4e8e-9c1c-26f0a22521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3544</TotalTime>
  <Words>1232</Words>
  <Application>Microsoft Office PowerPoint</Application>
  <PresentationFormat>Apresentação no Ecrã (16:9)</PresentationFormat>
  <Paragraphs>252</Paragraphs>
  <Slides>63</Slides>
  <Notes>63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dos diapositivos</vt:lpstr>
      </vt:variant>
      <vt:variant>
        <vt:i4>63</vt:i4>
      </vt:variant>
    </vt:vector>
  </HeadingPairs>
  <TitlesOfParts>
    <vt:vector size="64" baseType="lpstr"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Larissa Mestieri</dc:creator>
  <cp:lastModifiedBy>Cassiano  Peres</cp:lastModifiedBy>
  <cp:revision>15</cp:revision>
  <dcterms:modified xsi:type="dcterms:W3CDTF">2025-05-23T20:11:15Z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  <property fmtid="{D5CDD505-2E9C-101B-9397-08002B2CF9AE}" pid="3" name="MediaServiceImageTags">
    <vt:lpwstr/>
  </property>
</Properties>
</file>