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8"/>
  </p:notesMasterIdLst>
  <p:sldIdLst>
    <p:sldId id="260" r:id="rId5"/>
    <p:sldId id="262" r:id="rId6"/>
    <p:sldId id="263" r:id="rId7"/>
    <p:sldId id="264" r:id="rId8"/>
    <p:sldId id="306" r:id="rId9"/>
    <p:sldId id="265" r:id="rId10"/>
    <p:sldId id="277" r:id="rId11"/>
    <p:sldId id="334" r:id="rId12"/>
    <p:sldId id="316" r:id="rId13"/>
    <p:sldId id="335" r:id="rId14"/>
    <p:sldId id="268" r:id="rId15"/>
    <p:sldId id="338" r:id="rId16"/>
    <p:sldId id="339" r:id="rId17"/>
    <p:sldId id="269" r:id="rId18"/>
    <p:sldId id="347" r:id="rId19"/>
    <p:sldId id="333" r:id="rId20"/>
    <p:sldId id="344" r:id="rId21"/>
    <p:sldId id="348" r:id="rId22"/>
    <p:sldId id="349" r:id="rId23"/>
    <p:sldId id="342" r:id="rId24"/>
    <p:sldId id="343" r:id="rId25"/>
    <p:sldId id="345" r:id="rId26"/>
    <p:sldId id="346" r:id="rId27"/>
    <p:sldId id="329" r:id="rId28"/>
    <p:sldId id="350" r:id="rId29"/>
    <p:sldId id="271" r:id="rId30"/>
    <p:sldId id="293" r:id="rId31"/>
    <p:sldId id="340" r:id="rId32"/>
    <p:sldId id="341" r:id="rId33"/>
    <p:sldId id="351" r:id="rId34"/>
    <p:sldId id="337" r:id="rId35"/>
    <p:sldId id="328" r:id="rId36"/>
    <p:sldId id="275" r:id="rId37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7" roundtripDataSignature="AMtx7mhjxPrsOBPP4yViyrDTJVpXgOZs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3FC2B4-6E34-4439-1D55-6703731A9135}" v="2" dt="2022-11-09T09:59:36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82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77" Type="http://customschemas.google.com/relationships/presentationmetadata" Target="metadata"/><Relationship Id="rId8" Type="http://schemas.openxmlformats.org/officeDocument/2006/relationships/slide" Target="slides/slide4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8700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574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3083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873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6579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16295da5bc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16295da5bc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097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0945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5635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695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1236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6295da5bc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116295da5bc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76842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70285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2650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81168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7444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7281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551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49002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6295da5bc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116295da5bc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19568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46482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9621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46766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94422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0247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Engenharia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Social</a:t>
            </a:r>
            <a:endParaRPr sz="2400" b="0" i="1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2C3F779C-6A9D-036E-0141-C5086B4E5447}"/>
              </a:ext>
            </a:extLst>
          </p:cNvPr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 Peres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DIO  Tech Education Analyst</a:t>
            </a:r>
            <a:endParaRPr lang="en-US" sz="2400" b="1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cassiano-dio</a:t>
            </a:r>
            <a:endParaRPr lang="en-US" sz="16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6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peres-cassiano</a:t>
            </a:r>
            <a:endParaRPr sz="1600" b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25C8E-1D6C-A6AB-F4F2-119BB89F5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84" y="4030935"/>
            <a:ext cx="250309" cy="25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7CEDB2E-730F-EAE5-00A6-1E71B6357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78" y="4435961"/>
            <a:ext cx="250309" cy="24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falar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sobre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engenharia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social e 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arte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manipular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pessoas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obter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proteger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dela.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há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pré-requisitos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técnicos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porém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conteúdo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dos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cursos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anteriores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facilitam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assimilação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dos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novos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conteúdos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a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engenharia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social?</a:t>
            </a:r>
          </a:p>
        </p:txBody>
      </p:sp>
      <p:sp>
        <p:nvSpPr>
          <p:cNvPr id="185" name="Google Shape;185;p17"/>
          <p:cNvSpPr txBox="1"/>
          <p:nvPr/>
        </p:nvSpPr>
        <p:spPr>
          <a:xfrm>
            <a:off x="678554" y="2808718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262750" y="2865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Tipos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ataques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78554" y="3765731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262751" y="3822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Phishing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4</a:t>
            </a:r>
            <a:endParaRPr sz="2800" b="1" i="0" u="none" strike="noStrike" cap="none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SzPts val="2400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Como se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proteger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pt-BR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2643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engenharia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social?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falar de um tipo de ameaça importante, a 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Engenharia Social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pic>
        <p:nvPicPr>
          <p:cNvPr id="1026" name="Picture 2" descr="Social Engineering Basics | What to Know About Social Hackers">
            <a:extLst>
              <a:ext uri="{FF2B5EF4-FFF2-40B4-BE49-F238E27FC236}">
                <a16:creationId xmlns:a16="http://schemas.microsoft.com/office/drawing/2014/main" id="{D0538625-3BE6-EB3E-56DC-5A9CA038A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345" y="3669851"/>
            <a:ext cx="368530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56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26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Resumidamente, é persuadir alguém a fazer algo, sem que seja percebida a real intenção.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Engenharia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social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157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26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É uma técnica empregada para induzir usuários desavisados a enviar dados confidenciais, infectar seus computadores com malware ou abrir links para sites infectados.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Engenharia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social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9037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Engenharia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social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5CB400-0D33-AA59-64A7-54D2F54A1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239" y="1481050"/>
            <a:ext cx="5385522" cy="326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34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16295da5bc_1_7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g116295da5bc_1_7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ataques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5" name="Google Shape;225;g116295da5bc_1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116295da5bc_1_7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falar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sobre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tipos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ataques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utilizam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engenharia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social.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498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ataques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A6E604-D702-5B58-45CE-27C080BEF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809" y="1974612"/>
            <a:ext cx="4440382" cy="277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227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ataques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cibernéticos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certa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forma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utilizam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nível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mesmo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mínimo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engenharia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social.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ataques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ataques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pic>
        <p:nvPicPr>
          <p:cNvPr id="7170" name="Picture 2" descr="What are social engineering attacks?">
            <a:extLst>
              <a:ext uri="{FF2B5EF4-FFF2-40B4-BE49-F238E27FC236}">
                <a16:creationId xmlns:a16="http://schemas.microsoft.com/office/drawing/2014/main" id="{2D781177-2C4A-65D1-3C8F-4F5835EC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717" y="1729532"/>
            <a:ext cx="4458566" cy="302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38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ngenharia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social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pic>
        <p:nvPicPr>
          <p:cNvPr id="2" name="Picture 2" descr="What is social engineering? A definition + techniques to watch for">
            <a:extLst>
              <a:ext uri="{FF2B5EF4-FFF2-40B4-BE49-F238E27FC236}">
                <a16:creationId xmlns:a16="http://schemas.microsoft.com/office/drawing/2014/main" id="{A0D8209C-5C72-FE36-B580-17208AAC6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307" y="1481050"/>
            <a:ext cx="1793385" cy="357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181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falar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sobre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tipos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ataques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utilizam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engenharia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social.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7545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16295da5bc_1_9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3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g116295da5bc_1_9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Phishing</a:t>
            </a:r>
            <a:endParaRPr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3" name="Google Shape;253;g116295da5bc_1_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116295da5bc_1_9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711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dar atenção a um tipo de ataque muito comum, o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phishin</a:t>
            </a:r>
            <a:r>
              <a:rPr lang="pt-BR" sz="240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pt-BR" sz="240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1749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Phishing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é um crime cibernético em que um alvo ou alvos são contatados por e-mail, telefone ou mensagem de texto por alguém se passando por uma instituição legítima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Phishing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2446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Busca atrair indivíduos a fornecer dados confidenciais, como informações de identificação pessoal, detalhes bancários e de cartão de crédito e senhas.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Phishing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8FE20C0-591E-3C0D-69D0-1558C5F4D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596" y="3674629"/>
            <a:ext cx="1691987" cy="137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215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Phishing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DA436F-2BCC-7B54-4B89-E74114AD9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397" y="1368046"/>
            <a:ext cx="4646802" cy="349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19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Phishing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C68234-C5D1-F17C-832B-86C34D029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517" y="1478794"/>
            <a:ext cx="4610966" cy="346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6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pic>
        <p:nvPicPr>
          <p:cNvPr id="4098" name="Picture 2" descr="22 Social Engineering Red Flags">
            <a:extLst>
              <a:ext uri="{FF2B5EF4-FFF2-40B4-BE49-F238E27FC236}">
                <a16:creationId xmlns:a16="http://schemas.microsoft.com/office/drawing/2014/main" id="{F03851E6-4FDC-0899-B5E9-A3047DA14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451" y="73296"/>
            <a:ext cx="6563098" cy="5070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903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Tem foco em emoções e medos das pessoas;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 camuflam atrás d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 pessoas e instituições legítimas;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 cibercriminosos continuam inovando;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ataque bem sucedido basta para comprometer.</a:t>
            </a:r>
            <a:endParaRPr lang="pt-BR" sz="2400" b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6758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16295da5bc_1_9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4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g116295da5bc_1_9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Como se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proteger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3" name="Google Shape;253;g116295da5bc_1_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116295da5bc_1_9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ver como se proteger de ataques de engenharia social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0578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Nessa fase é extremamente importante cuidar dos comportamentos das pessoas envolvidas.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3204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pic>
        <p:nvPicPr>
          <p:cNvPr id="2050" name="Picture 2" descr="What is social engineering? A definition + techniques to watch for">
            <a:extLst>
              <a:ext uri="{FF2B5EF4-FFF2-40B4-BE49-F238E27FC236}">
                <a16:creationId xmlns:a16="http://schemas.microsoft.com/office/drawing/2014/main" id="{58ED1835-8CED-93C1-7058-D458F0D4C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081" y="1468118"/>
            <a:ext cx="3525837" cy="3281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092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pic>
        <p:nvPicPr>
          <p:cNvPr id="1026" name="Picture 2" descr="How to protect against phishing: 18 tips for spotting a scam">
            <a:extLst>
              <a:ext uri="{FF2B5EF4-FFF2-40B4-BE49-F238E27FC236}">
                <a16:creationId xmlns:a16="http://schemas.microsoft.com/office/drawing/2014/main" id="{A5BF65BD-DC4A-1682-5552-10487DD28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91" y="1372310"/>
            <a:ext cx="3313545" cy="357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2519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19100" indent="-342900">
              <a:buClr>
                <a:srgbClr val="040A24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abrir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emails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fontes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suspeitas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lang="en-US">
              <a:sym typeface="Calibri"/>
            </a:endParaRPr>
          </a:p>
          <a:p>
            <a:pPr marL="419100" marR="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Usar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autenticação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fatores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lang="en-US"/>
          </a:p>
          <a:p>
            <a:pPr marL="419100" marR="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Cuidado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ofertas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mirabolantes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419100" marR="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Mantenha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antivirus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atualizado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176" name="Google Shape;176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Como se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proteger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58479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tivemos uma noção do quão abertos são os sistemas e o perigo que isso representa.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35416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6" ma:contentTypeDescription="Create a new document." ma:contentTypeScope="" ma:versionID="521d280d5f85db8478d88c96e960a7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de0ecea43319d87aebf071435ed4a5d9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945ED4D2-CB89-48D0-9492-48A32AB0CF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395025-9147-4E15-889A-D42EB62FD4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7CB545-2F42-4F9B-81B9-9B2A306F6F9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3702</TotalTime>
  <Words>524</Words>
  <Application>Microsoft Office PowerPoint</Application>
  <PresentationFormat>Apresentação no Ecrã (16:9)</PresentationFormat>
  <Paragraphs>104</Paragraphs>
  <Slides>33</Slides>
  <Notes>33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33</vt:i4>
      </vt:variant>
    </vt:vector>
  </HeadingPairs>
  <TitlesOfParts>
    <vt:vector size="34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Larissa Mestieri</dc:creator>
  <cp:lastModifiedBy>Cassiano  Peres</cp:lastModifiedBy>
  <cp:revision>19</cp:revision>
  <dcterms:modified xsi:type="dcterms:W3CDTF">2025-05-23T20:16:09Z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